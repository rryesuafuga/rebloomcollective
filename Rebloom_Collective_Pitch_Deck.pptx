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2109" y="802184"/>
            <a:ext cx="2059781" cy="312390"/>
          </a:xfrm>
          <a:prstGeom prst="roundRect">
            <a:avLst>
              <a:gd name="adj" fmla="val 60981"/>
            </a:avLst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5822" y="878384"/>
            <a:ext cx="17123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WE4A BUSINESS PITCH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83040" y="1457474"/>
            <a:ext cx="63777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6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REBLOOM COLLECTIVE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55867" y="2219474"/>
            <a:ext cx="64321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800"/>
              </a:spcAft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Gender-Based Violence Survivor Rehabilitation &amp; Green Livelihood Training Center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300883" y="2840385"/>
            <a:ext cx="4542086" cy="466725"/>
          </a:xfrm>
          <a:prstGeom prst="roundRect">
            <a:avLst>
              <a:gd name="adj" fmla="val 16327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46927" y="2973735"/>
            <a:ext cx="40499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 Survivors. Empowering Women. Protecting the Planet.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168959" y="3764310"/>
            <a:ext cx="80608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Aujo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6157" y="4168080"/>
            <a:ext cx="2791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MPH | BSWASA | Pallisa District, Eastern Uganda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50714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A Crisis at Every Level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353145"/>
            <a:ext cx="5181600" cy="704552"/>
          </a:xfrm>
          <a:prstGeom prst="roundRect">
            <a:avLst>
              <a:gd name="adj" fmla="val 8112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353145"/>
            <a:ext cx="0" cy="704552"/>
          </a:xfrm>
          <a:prstGeom prst="line">
            <a:avLst/>
          </a:prstGeom>
          <a:noFill/>
          <a:ln w="381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1448395"/>
            <a:ext cx="505206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 (NATIONAL)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514350" y="1589336"/>
            <a:ext cx="505206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women experience intimate partner violence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514350" y="1719709"/>
            <a:ext cx="505206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pPr algn="l" indent="0" marL="0">
              <a:lnSpc>
                <a:spcPts val="877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girls drop out after menstruation begins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514350" y="1869132"/>
            <a:ext cx="505206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300"/>
              </a:spcBef>
              <a:buNone/>
            </a:pPr>
            <a:r>
              <a:rPr lang="en-US" sz="525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 Bureau of Statistics DHS 2016; UNICEF/Ministry of Education</a:t>
            </a:r>
            <a:endParaRPr lang="en-US" sz="525" dirty="0"/>
          </a:p>
        </p:txBody>
      </p:sp>
      <p:sp>
        <p:nvSpPr>
          <p:cNvPr id="9" name="Text 7"/>
          <p:cNvSpPr/>
          <p:nvPr/>
        </p:nvSpPr>
        <p:spPr>
          <a:xfrm>
            <a:off x="381000" y="2133898"/>
            <a:ext cx="5181600" cy="704552"/>
          </a:xfrm>
          <a:prstGeom prst="roundRect">
            <a:avLst>
              <a:gd name="adj" fmla="val 8112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133898"/>
            <a:ext cx="0" cy="704552"/>
          </a:xfrm>
          <a:prstGeom prst="line">
            <a:avLst/>
          </a:prstGeom>
          <a:noFill/>
          <a:ln w="381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350" y="2229148"/>
            <a:ext cx="505206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UGANDA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514350" y="2370088"/>
            <a:ext cx="505206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35.7%</a:t>
            </a:r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poverty rate - highest in Uganda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514350" y="2500461"/>
            <a:ext cx="505206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pPr algn="l" indent="0" marL="0">
              <a:lnSpc>
                <a:spcPts val="877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reusable pad manufacturers within 300km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514350" y="2649885"/>
            <a:ext cx="505206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300"/>
              </a:spcBef>
              <a:buNone/>
            </a:pPr>
            <a:r>
              <a:rPr lang="en-US" sz="525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 Bureau of Statistics 2019/20; Market research 2024</a:t>
            </a:r>
            <a:endParaRPr lang="en-US" sz="525" dirty="0"/>
          </a:p>
        </p:txBody>
      </p:sp>
      <p:sp>
        <p:nvSpPr>
          <p:cNvPr id="15" name="Text 13"/>
          <p:cNvSpPr/>
          <p:nvPr/>
        </p:nvSpPr>
        <p:spPr>
          <a:xfrm>
            <a:off x="381000" y="2914650"/>
            <a:ext cx="5181600" cy="704552"/>
          </a:xfrm>
          <a:prstGeom prst="roundRect">
            <a:avLst>
              <a:gd name="adj" fmla="val 8112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2914650"/>
            <a:ext cx="0" cy="704552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350" y="3009900"/>
            <a:ext cx="505206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BUKEDI SUB-REGION (includes Pallisa)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514350" y="3150840"/>
            <a:ext cx="505206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37.1%</a:t>
            </a:r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sexual violence rate - 123% above national average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514350" y="3281214"/>
            <a:ext cx="505206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pPr algn="l" indent="0" marL="0">
              <a:lnSpc>
                <a:spcPts val="877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Gender-Based Violence (GBV) survivors tell no one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514350" y="3430637"/>
            <a:ext cx="505206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300"/>
              </a:spcBef>
              <a:buNone/>
            </a:pPr>
            <a:r>
              <a:rPr lang="en-US" sz="525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 Bureau of Statistics VAWG Survey 2020</a:t>
            </a:r>
            <a:endParaRPr lang="en-US" sz="525" dirty="0"/>
          </a:p>
        </p:txBody>
      </p:sp>
      <p:sp>
        <p:nvSpPr>
          <p:cNvPr id="21" name="Text 19"/>
          <p:cNvSpPr/>
          <p:nvPr/>
        </p:nvSpPr>
        <p:spPr>
          <a:xfrm>
            <a:off x="381000" y="3695402"/>
            <a:ext cx="5181600" cy="704552"/>
          </a:xfrm>
          <a:prstGeom prst="roundRect">
            <a:avLst>
              <a:gd name="adj" fmla="val 811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00050" y="3695402"/>
            <a:ext cx="0" cy="704552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350" y="3790652"/>
            <a:ext cx="505206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PALLISA DISTRICT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514350" y="3931593"/>
            <a:ext cx="505206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population below poverty line (235,479 people)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14350" y="4061966"/>
            <a:ext cx="505206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61.8%</a:t>
            </a:r>
            <a:pPr algn="l" indent="0" marL="0">
              <a:lnSpc>
                <a:spcPts val="877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poverty rate in Pallisa County specifically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514350" y="4211389"/>
            <a:ext cx="505206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300"/>
              </a:spcBef>
              <a:buNone/>
            </a:pPr>
            <a:r>
              <a:rPr lang="en-US" sz="525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Pallisa District Statistical Abstract 2018/19</a:t>
            </a:r>
            <a:endParaRPr lang="en-US" sz="525" dirty="0"/>
          </a:p>
        </p:txBody>
      </p:sp>
      <p:sp>
        <p:nvSpPr>
          <p:cNvPr id="27" name="Text 25"/>
          <p:cNvSpPr/>
          <p:nvPr/>
        </p:nvSpPr>
        <p:spPr>
          <a:xfrm>
            <a:off x="5715000" y="1604218"/>
            <a:ext cx="3048000" cy="956072"/>
          </a:xfrm>
          <a:prstGeom prst="roundRect">
            <a:avLst>
              <a:gd name="adj" fmla="val 7970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829300" y="1718518"/>
            <a:ext cx="28757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DEADLY CYCLE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829300" y="1909018"/>
            <a:ext cx="287578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remain in abusive situations due to economic dependence. Research shows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face economic violence from partners.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5829300" y="2206079"/>
            <a:ext cx="287578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like him...he's the source of income. If I let him go to prison, I am not going to get any money." - UBOS Focus Group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5715000" y="2636490"/>
            <a:ext cx="3048000" cy="1005632"/>
          </a:xfrm>
          <a:prstGeom prst="roundRect">
            <a:avLst>
              <a:gd name="adj" fmla="val 7577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829300" y="2750790"/>
            <a:ext cx="28757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POVERTY IMPACT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829300" y="2941290"/>
            <a:ext cx="28757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girls miss school during menstruation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5829300" y="3099346"/>
            <a:ext cx="28757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cannot afford menstrual products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5829300" y="3257401"/>
            <a:ext cx="28757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cloth/rags instead of pads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5829300" y="3434507"/>
            <a:ext cx="287578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450"/>
              </a:spcBef>
              <a:buNone/>
            </a:pPr>
            <a:r>
              <a:rPr lang="en-US" sz="52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Chaturvedi et al., Nature 2020; SNV 2017</a:t>
            </a:r>
            <a:endParaRPr lang="en-US" sz="525" dirty="0"/>
          </a:p>
        </p:txBody>
      </p:sp>
      <p:sp>
        <p:nvSpPr>
          <p:cNvPr id="37" name="Text 35"/>
          <p:cNvSpPr/>
          <p:nvPr/>
        </p:nvSpPr>
        <p:spPr>
          <a:xfrm>
            <a:off x="5715000" y="3718322"/>
            <a:ext cx="3048000" cy="430411"/>
          </a:xfrm>
          <a:prstGeom prst="roundRect">
            <a:avLst>
              <a:gd name="adj" fmla="val 17704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781675" y="3813572"/>
            <a:ext cx="29146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Connection:</a:t>
            </a:r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World Bank confirms improved health product access reduces women's vulnerability to violence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656767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Gap: Zero Producers in Eastern Uganda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185118"/>
            <a:ext cx="5562600" cy="1182886"/>
          </a:xfrm>
          <a:prstGeom prst="roundRect">
            <a:avLst>
              <a:gd name="adj" fmla="val 6442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1391" y="1318468"/>
            <a:ext cx="54018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MARKET FINDING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461391" y="1503164"/>
            <a:ext cx="54018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61391" y="2074664"/>
            <a:ext cx="54018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menstrual pad manufacturers in Bukedi sub-region or Eastern Uganda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463254"/>
            <a:ext cx="5562600" cy="1340941"/>
          </a:xfrm>
          <a:prstGeom prst="roundRect">
            <a:avLst>
              <a:gd name="adj" fmla="val 568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2577554"/>
            <a:ext cx="54406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EXISTING PRODUCERS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5300" y="2758529"/>
            <a:ext cx="54406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AFRIpads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(So Sure brand) - Masaka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95300" y="2910929"/>
            <a:ext cx="54406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~300km away (5-6 hours travel)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95300" y="3088035"/>
            <a:ext cx="54406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EcoSmart Pads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Mbarara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95300" y="3240435"/>
            <a:ext cx="54406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~350km away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95300" y="3417540"/>
            <a:ext cx="54406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for Girls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Kampala/Jinja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95300" y="3569940"/>
            <a:ext cx="54406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~220km away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81000" y="3899446"/>
            <a:ext cx="5562600" cy="668536"/>
          </a:xfrm>
          <a:prstGeom prst="roundRect">
            <a:avLst>
              <a:gd name="adj" fmla="val 11398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350" y="4032796"/>
            <a:ext cx="54018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OPPORTUNITY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14350" y="4194721"/>
            <a:ext cx="540181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Rebloom Collective will establish the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local production facility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Bukedi sub-region, eliminating transport barriers, reducing costs, and creating local employment for women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6096000" y="1810941"/>
            <a:ext cx="2667000" cy="1251198"/>
          </a:xfrm>
          <a:prstGeom prst="roundRect">
            <a:avLst>
              <a:gd name="adj" fmla="val 6090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29350" y="1944291"/>
            <a:ext cx="2448306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BUKEDI DEMAND INDICATORS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229350" y="2165152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5,982</a:t>
            </a:r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GBV cases in Eastern Uganda (2020)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229350" y="2342257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increase from 2019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6229350" y="2519363"/>
            <a:ext cx="244830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Parliament called for </a:t>
            </a:r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budget allocation</a:t>
            </a:r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menstrual health in Eastern region (June 2024)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6229350" y="2835473"/>
            <a:ext cx="244830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UNFPA 2021; CEHURD 2024</a:t>
            </a:r>
            <a:endParaRPr lang="en-US" sz="525" dirty="0"/>
          </a:p>
        </p:txBody>
      </p:sp>
      <p:sp>
        <p:nvSpPr>
          <p:cNvPr id="24" name="Text 22"/>
          <p:cNvSpPr/>
          <p:nvPr/>
        </p:nvSpPr>
        <p:spPr>
          <a:xfrm>
            <a:off x="6096000" y="3157389"/>
            <a:ext cx="2667000" cy="784622"/>
          </a:xfrm>
          <a:prstGeom prst="roundRect">
            <a:avLst>
              <a:gd name="adj" fmla="val 9712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10300" y="3271689"/>
            <a:ext cx="24871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PALLISA SITUATION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6210300" y="3424089"/>
            <a:ext cx="248716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local production. No consistent supply. Girls resort to unhygienic alternatives causing infections and stigma.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6210300" y="3721150"/>
            <a:ext cx="24871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450"/>
              </a:spcBef>
              <a:buNone/>
            </a:pPr>
            <a:r>
              <a:rPr lang="en-US" sz="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MHM programs identified specifically operating in Pallisa District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60916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Three Integrated Components</a:t>
            </a:r>
            <a:endParaRPr lang="en-US" sz="2250" dirty="0"/>
          </a:p>
        </p:txBody>
      </p:sp>
      <p:pic>
        <p:nvPicPr>
          <p:cNvPr id="3" name="Image 0" descr="/tmp/rasterized-gradient-94c7d45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765995"/>
            <a:ext cx="2717750" cy="9886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350" y="1899345"/>
            <a:ext cx="2500071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1</a:t>
            </a:r>
            <a:endParaRPr lang="en-US" sz="675" dirty="0"/>
          </a:p>
        </p:txBody>
      </p:sp>
      <p:sp>
        <p:nvSpPr>
          <p:cNvPr id="5" name="Text 2"/>
          <p:cNvSpPr/>
          <p:nvPr/>
        </p:nvSpPr>
        <p:spPr>
          <a:xfrm>
            <a:off x="514350" y="2040285"/>
            <a:ext cx="170021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3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GBV Survivor Rehabilitation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514350" y="2234952"/>
            <a:ext cx="2500071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space with psychosocial support, counseling, peer groups, life skills training, and vocational development</a:t>
            </a:r>
            <a:endParaRPr lang="en-US" sz="675" dirty="0"/>
          </a:p>
        </p:txBody>
      </p:sp>
      <p:sp>
        <p:nvSpPr>
          <p:cNvPr id="7" name="Text 4"/>
          <p:cNvSpPr/>
          <p:nvPr/>
        </p:nvSpPr>
        <p:spPr>
          <a:xfrm>
            <a:off x="514350" y="2514749"/>
            <a:ext cx="250007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450"/>
              </a:spcBef>
              <a:buNone/>
            </a:pPr>
            <a:r>
              <a:rPr lang="en-US" sz="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the cycle of economic dependence</a:t>
            </a:r>
            <a:endParaRPr lang="en-US" sz="600" dirty="0"/>
          </a:p>
        </p:txBody>
      </p:sp>
      <p:pic>
        <p:nvPicPr>
          <p:cNvPr id="8" name="Image 1" descr="/tmp/rasterized-gradient-a7250c3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050" y="1765995"/>
            <a:ext cx="2717750" cy="9886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46400" y="1899345"/>
            <a:ext cx="2500071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2</a:t>
            </a:r>
            <a:endParaRPr lang="en-US" sz="675" dirty="0"/>
          </a:p>
        </p:txBody>
      </p:sp>
      <p:sp>
        <p:nvSpPr>
          <p:cNvPr id="10" name="Text 6"/>
          <p:cNvSpPr/>
          <p:nvPr/>
        </p:nvSpPr>
        <p:spPr>
          <a:xfrm>
            <a:off x="3346400" y="2040285"/>
            <a:ext cx="171964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3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Rebloom Pad Manufacturing</a:t>
            </a:r>
            <a:endParaRPr lang="en-US" sz="975" dirty="0"/>
          </a:p>
        </p:txBody>
      </p:sp>
      <p:sp>
        <p:nvSpPr>
          <p:cNvPr id="11" name="Text 7"/>
          <p:cNvSpPr/>
          <p:nvPr/>
        </p:nvSpPr>
        <p:spPr>
          <a:xfrm>
            <a:off x="3346400" y="2234952"/>
            <a:ext cx="2500071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local production of reusable menstrual pads in Teso. Survivors trained as producers earning dignified income</a:t>
            </a:r>
            <a:endParaRPr lang="en-US" sz="675" dirty="0"/>
          </a:p>
        </p:txBody>
      </p:sp>
      <p:sp>
        <p:nvSpPr>
          <p:cNvPr id="12" name="Text 8"/>
          <p:cNvSpPr/>
          <p:nvPr/>
        </p:nvSpPr>
        <p:spPr>
          <a:xfrm>
            <a:off x="3346400" y="2514749"/>
            <a:ext cx="250007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450"/>
              </a:spcBef>
              <a:buNone/>
            </a:pPr>
            <a:r>
              <a:rPr lang="en-US" sz="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economic independence</a:t>
            </a:r>
            <a:endParaRPr lang="en-US" sz="600" dirty="0"/>
          </a:p>
        </p:txBody>
      </p:sp>
      <p:pic>
        <p:nvPicPr>
          <p:cNvPr id="13" name="Image 2" descr="/tmp/rasterized-gradient-ab7dac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101" y="1710333"/>
            <a:ext cx="2717750" cy="109998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8451" y="1843683"/>
            <a:ext cx="2500071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3</a:t>
            </a:r>
            <a:endParaRPr lang="en-US" sz="675" dirty="0"/>
          </a:p>
        </p:txBody>
      </p:sp>
      <p:sp>
        <p:nvSpPr>
          <p:cNvPr id="15" name="Text 10"/>
          <p:cNvSpPr/>
          <p:nvPr/>
        </p:nvSpPr>
        <p:spPr>
          <a:xfrm>
            <a:off x="6178451" y="1984623"/>
            <a:ext cx="154476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3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 Distribution Network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6178451" y="2179290"/>
            <a:ext cx="250007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Health Entrepreneurs (CHEs) distribute Rebloom Pads across Pallisa, earning commission while providing health education</a:t>
            </a:r>
            <a:endParaRPr lang="en-US" sz="675" dirty="0"/>
          </a:p>
        </p:txBody>
      </p:sp>
      <p:sp>
        <p:nvSpPr>
          <p:cNvPr id="17" name="Text 12"/>
          <p:cNvSpPr/>
          <p:nvPr/>
        </p:nvSpPr>
        <p:spPr>
          <a:xfrm>
            <a:off x="6178451" y="2570411"/>
            <a:ext cx="250007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450"/>
              </a:spcBef>
              <a:buNone/>
            </a:pPr>
            <a:r>
              <a:rPr lang="en-US" sz="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sustainable livelihoods</a:t>
            </a:r>
            <a:endParaRPr lang="en-US" sz="600" dirty="0"/>
          </a:p>
        </p:txBody>
      </p:sp>
      <p:sp>
        <p:nvSpPr>
          <p:cNvPr id="18" name="Text 13"/>
          <p:cNvSpPr/>
          <p:nvPr/>
        </p:nvSpPr>
        <p:spPr>
          <a:xfrm>
            <a:off x="381000" y="3815804"/>
            <a:ext cx="8382000" cy="323850"/>
          </a:xfrm>
          <a:prstGeom prst="roundRect">
            <a:avLst>
              <a:gd name="adj" fmla="val 1764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52628" y="3911054"/>
            <a:ext cx="82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GRADUATION PATHWAY:</a:t>
            </a:r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GBV Survivor → Trained Producer → Community Health Entrepreneur (CHE) → Independent Business Owner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381000" y="4234904"/>
            <a:ext cx="2024062" cy="415230"/>
          </a:xfrm>
          <a:prstGeom prst="roundRect">
            <a:avLst>
              <a:gd name="adj" fmla="val 13763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381000" y="4635847"/>
            <a:ext cx="2024062" cy="0"/>
          </a:xfrm>
          <a:prstGeom prst="line">
            <a:avLst/>
          </a:prstGeom>
          <a:noFill/>
          <a:ln w="28575">
            <a:solidFill>
              <a:srgbClr val="E651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38483" y="4311104"/>
            <a:ext cx="19090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</a:t>
            </a:r>
            <a:endParaRPr lang="en-US" sz="675" dirty="0"/>
          </a:p>
        </p:txBody>
      </p:sp>
      <p:sp>
        <p:nvSpPr>
          <p:cNvPr id="23" name="Text 18"/>
          <p:cNvSpPr/>
          <p:nvPr/>
        </p:nvSpPr>
        <p:spPr>
          <a:xfrm>
            <a:off x="438483" y="4425404"/>
            <a:ext cx="19090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Heal, train, produce, become entrepreneurs</a:t>
            </a:r>
            <a:endParaRPr lang="en-US" sz="675" dirty="0"/>
          </a:p>
        </p:txBody>
      </p:sp>
      <p:sp>
        <p:nvSpPr>
          <p:cNvPr id="24" name="Text 19"/>
          <p:cNvSpPr/>
          <p:nvPr/>
        </p:nvSpPr>
        <p:spPr>
          <a:xfrm>
            <a:off x="2500313" y="4234904"/>
            <a:ext cx="2024062" cy="415230"/>
          </a:xfrm>
          <a:prstGeom prst="roundRect">
            <a:avLst>
              <a:gd name="adj" fmla="val 13763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0"/>
          <p:cNvSpPr/>
          <p:nvPr/>
        </p:nvSpPr>
        <p:spPr>
          <a:xfrm>
            <a:off x="2500313" y="4635847"/>
            <a:ext cx="2024062" cy="0"/>
          </a:xfrm>
          <a:prstGeom prst="line">
            <a:avLst/>
          </a:prstGeom>
          <a:noFill/>
          <a:ln w="28575">
            <a:solidFill>
              <a:srgbClr val="E6510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557796" y="4311104"/>
            <a:ext cx="19090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GIRLS</a:t>
            </a:r>
            <a:endParaRPr lang="en-US" sz="675" dirty="0"/>
          </a:p>
        </p:txBody>
      </p:sp>
      <p:sp>
        <p:nvSpPr>
          <p:cNvPr id="27" name="Text 22"/>
          <p:cNvSpPr/>
          <p:nvPr/>
        </p:nvSpPr>
        <p:spPr>
          <a:xfrm>
            <a:off x="2557796" y="4425404"/>
            <a:ext cx="19090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in school with affordable Rebloom Pads</a:t>
            </a:r>
            <a:endParaRPr lang="en-US" sz="675" dirty="0"/>
          </a:p>
        </p:txBody>
      </p:sp>
      <p:sp>
        <p:nvSpPr>
          <p:cNvPr id="28" name="Text 23"/>
          <p:cNvSpPr/>
          <p:nvPr/>
        </p:nvSpPr>
        <p:spPr>
          <a:xfrm>
            <a:off x="4619625" y="4234904"/>
            <a:ext cx="2024062" cy="415230"/>
          </a:xfrm>
          <a:prstGeom prst="roundRect">
            <a:avLst>
              <a:gd name="adj" fmla="val 13763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4"/>
          <p:cNvSpPr/>
          <p:nvPr/>
        </p:nvSpPr>
        <p:spPr>
          <a:xfrm>
            <a:off x="4619625" y="4635847"/>
            <a:ext cx="2024063" cy="0"/>
          </a:xfrm>
          <a:prstGeom prst="line">
            <a:avLst/>
          </a:prstGeom>
          <a:noFill/>
          <a:ln w="28575">
            <a:solidFill>
              <a:srgbClr val="E6510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677108" y="4311104"/>
            <a:ext cx="19090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</a:t>
            </a:r>
            <a:endParaRPr lang="en-US" sz="675" dirty="0"/>
          </a:p>
        </p:txBody>
      </p:sp>
      <p:sp>
        <p:nvSpPr>
          <p:cNvPr id="31" name="Text 26"/>
          <p:cNvSpPr/>
          <p:nvPr/>
        </p:nvSpPr>
        <p:spPr>
          <a:xfrm>
            <a:off x="4677108" y="4425404"/>
            <a:ext cx="19090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 earn sustainable commission income</a:t>
            </a:r>
            <a:endParaRPr lang="en-US" sz="675" dirty="0"/>
          </a:p>
        </p:txBody>
      </p:sp>
      <p:sp>
        <p:nvSpPr>
          <p:cNvPr id="32" name="Text 27"/>
          <p:cNvSpPr/>
          <p:nvPr/>
        </p:nvSpPr>
        <p:spPr>
          <a:xfrm>
            <a:off x="6738938" y="4234904"/>
            <a:ext cx="2024062" cy="415230"/>
          </a:xfrm>
          <a:prstGeom prst="roundRect">
            <a:avLst>
              <a:gd name="adj" fmla="val 13763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28"/>
          <p:cNvSpPr/>
          <p:nvPr/>
        </p:nvSpPr>
        <p:spPr>
          <a:xfrm>
            <a:off x="6738938" y="4635847"/>
            <a:ext cx="2024063" cy="0"/>
          </a:xfrm>
          <a:prstGeom prst="line">
            <a:avLst/>
          </a:prstGeom>
          <a:noFill/>
          <a:ln w="28575">
            <a:solidFill>
              <a:srgbClr val="E6510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796421" y="4311104"/>
            <a:ext cx="19090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675" dirty="0"/>
          </a:p>
        </p:txBody>
      </p:sp>
      <p:sp>
        <p:nvSpPr>
          <p:cNvPr id="35" name="Text 30"/>
          <p:cNvSpPr/>
          <p:nvPr/>
        </p:nvSpPr>
        <p:spPr>
          <a:xfrm>
            <a:off x="6796421" y="4425404"/>
            <a:ext cx="19090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from 500+ year plastic waste</a:t>
            </a:r>
            <a:endParaRPr lang="en-US" sz="675" dirty="0"/>
          </a:p>
        </p:txBody>
      </p:sp>
      <p:sp>
        <p:nvSpPr>
          <p:cNvPr id="36" name="Text 31"/>
          <p:cNvSpPr/>
          <p:nvPr/>
        </p:nvSpPr>
        <p:spPr>
          <a:xfrm>
            <a:off x="381000" y="4745385"/>
            <a:ext cx="8382000" cy="207615"/>
          </a:xfrm>
          <a:prstGeom prst="roundRect">
            <a:avLst>
              <a:gd name="adj" fmla="val 1835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495300" y="4802535"/>
            <a:ext cx="831646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GBV = Gender-Based Violence | CHE = Community Health Entrepreneur</a:t>
            </a:r>
            <a:endParaRPr lang="en-US" sz="5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61790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Journey: From Survivor to Entrepreneur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971550" y="1388864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68121" y="1388864"/>
            <a:ext cx="3497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788914"/>
            <a:ext cx="1524000" cy="666750"/>
          </a:xfrm>
          <a:prstGeom prst="roundRect">
            <a:avLst>
              <a:gd name="adj" fmla="val 8571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4053" y="1865114"/>
            <a:ext cx="14378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24053" y="1988939"/>
            <a:ext cx="143789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health facilities, police, Community Health Workers (CHWs), local leaders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365760" y="2484239"/>
            <a:ext cx="15544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225"/>
              </a:spcBef>
              <a:buNone/>
            </a:pPr>
            <a:r>
              <a:rPr lang="en-US" sz="525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525" dirty="0"/>
          </a:p>
        </p:txBody>
      </p:sp>
      <p:sp>
        <p:nvSpPr>
          <p:cNvPr id="9" name="Text 7"/>
          <p:cNvSpPr/>
          <p:nvPr/>
        </p:nvSpPr>
        <p:spPr>
          <a:xfrm>
            <a:off x="1943100" y="1388864"/>
            <a:ext cx="116586" cy="274290"/>
          </a:xfrm>
          <a:prstGeom prst="rect">
            <a:avLst/>
          </a:prstGeom>
          <a:noFill/>
          <a:ln/>
        </p:spPr>
        <p:txBody>
          <a:bodyPr wrap="square" lIns="0" tIns="11430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86050" y="1388864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82621" y="1388864"/>
            <a:ext cx="3497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95500" y="1788914"/>
            <a:ext cx="1524000" cy="666750"/>
          </a:xfrm>
          <a:prstGeom prst="roundRect">
            <a:avLst>
              <a:gd name="adj" fmla="val 8571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38553" y="1865114"/>
            <a:ext cx="14378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2138553" y="1988939"/>
            <a:ext cx="143789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Counseling, peer support, trauma care, life skills, Village Savings (VSLA)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080260" y="2484239"/>
            <a:ext cx="15544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225"/>
              </a:spcBef>
              <a:buNone/>
            </a:pPr>
            <a:r>
              <a:rPr lang="en-US" sz="525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1-8</a:t>
            </a:r>
            <a:endParaRPr lang="en-US" sz="525" dirty="0"/>
          </a:p>
        </p:txBody>
      </p:sp>
      <p:sp>
        <p:nvSpPr>
          <p:cNvPr id="16" name="Text 14"/>
          <p:cNvSpPr/>
          <p:nvPr/>
        </p:nvSpPr>
        <p:spPr>
          <a:xfrm>
            <a:off x="3657600" y="1388864"/>
            <a:ext cx="116586" cy="274290"/>
          </a:xfrm>
          <a:prstGeom prst="rect">
            <a:avLst/>
          </a:prstGeom>
          <a:noFill/>
          <a:ln/>
        </p:spPr>
        <p:txBody>
          <a:bodyPr wrap="square" lIns="0" tIns="11430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00550" y="1388864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97121" y="1388864"/>
            <a:ext cx="3497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10000" y="1788914"/>
            <a:ext cx="1524000" cy="666750"/>
          </a:xfrm>
          <a:prstGeom prst="roundRect">
            <a:avLst>
              <a:gd name="adj" fmla="val 8571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53053" y="1865114"/>
            <a:ext cx="14378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853053" y="1988939"/>
            <a:ext cx="143789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Rebloom Pad manufacturing: cutting, sewing, quality control, packaging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794760" y="2484239"/>
            <a:ext cx="15544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225"/>
              </a:spcBef>
              <a:buNone/>
            </a:pPr>
            <a:r>
              <a:rPr lang="en-US" sz="525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9-16</a:t>
            </a:r>
            <a:endParaRPr lang="en-US" sz="525" dirty="0"/>
          </a:p>
        </p:txBody>
      </p:sp>
      <p:sp>
        <p:nvSpPr>
          <p:cNvPr id="23" name="Text 21"/>
          <p:cNvSpPr/>
          <p:nvPr/>
        </p:nvSpPr>
        <p:spPr>
          <a:xfrm>
            <a:off x="5372100" y="1388864"/>
            <a:ext cx="116586" cy="274290"/>
          </a:xfrm>
          <a:prstGeom prst="rect">
            <a:avLst/>
          </a:prstGeom>
          <a:noFill/>
          <a:ln/>
        </p:spPr>
        <p:txBody>
          <a:bodyPr wrap="square" lIns="0" tIns="11430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15050" y="1388864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11621" y="1388864"/>
            <a:ext cx="3497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24500" y="1788914"/>
            <a:ext cx="1524000" cy="66675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67553" y="1865114"/>
            <a:ext cx="14378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5567553" y="1988939"/>
            <a:ext cx="143789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producer role with income OR receive starter kit for business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09260" y="2484239"/>
            <a:ext cx="15544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225"/>
              </a:spcBef>
              <a:buNone/>
            </a:pPr>
            <a:r>
              <a:rPr lang="en-US" sz="525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5+</a:t>
            </a:r>
            <a:endParaRPr lang="en-US" sz="525" dirty="0"/>
          </a:p>
        </p:txBody>
      </p:sp>
      <p:sp>
        <p:nvSpPr>
          <p:cNvPr id="30" name="Text 28"/>
          <p:cNvSpPr/>
          <p:nvPr/>
        </p:nvSpPr>
        <p:spPr>
          <a:xfrm>
            <a:off x="7086600" y="1388864"/>
            <a:ext cx="116586" cy="274290"/>
          </a:xfrm>
          <a:prstGeom prst="rect">
            <a:avLst/>
          </a:prstGeom>
          <a:noFill/>
          <a:ln/>
        </p:spPr>
        <p:txBody>
          <a:bodyPr wrap="square" lIns="0" tIns="11430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29550" y="1388864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826121" y="1388864"/>
            <a:ext cx="3497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39000" y="1788914"/>
            <a:ext cx="1524000" cy="666750"/>
          </a:xfrm>
          <a:prstGeom prst="roundRect">
            <a:avLst>
              <a:gd name="adj" fmla="val 857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282053" y="1865114"/>
            <a:ext cx="14378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 NETWORK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7282053" y="1988939"/>
            <a:ext cx="143789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 to Community Health Entrepreneur distributing products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7223760" y="2484239"/>
            <a:ext cx="15544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225"/>
              </a:spcBef>
              <a:buNone/>
            </a:pPr>
            <a:r>
              <a:rPr lang="en-US" sz="525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8+</a:t>
            </a:r>
            <a:endParaRPr lang="en-US" sz="525" dirty="0"/>
          </a:p>
        </p:txBody>
      </p:sp>
      <p:pic>
        <p:nvPicPr>
          <p:cNvPr id="37" name="Image 0" descr="/tmp/rasterized-gradient-9a717b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844254"/>
            <a:ext cx="8382000" cy="337096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452628" y="2939504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Transformation: Crisis → Healing → Skills → Employment → Entrepreneurship → Independence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381000" y="3429000"/>
            <a:ext cx="2730550" cy="517922"/>
          </a:xfrm>
          <a:prstGeom prst="roundRect">
            <a:avLst>
              <a:gd name="adj" fmla="val 1103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31419" y="3505200"/>
            <a:ext cx="262971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weeks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431419" y="3764161"/>
            <a:ext cx="262971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rehabilitation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3206800" y="3429000"/>
            <a:ext cx="2730550" cy="517922"/>
          </a:xfrm>
          <a:prstGeom prst="roundRect">
            <a:avLst>
              <a:gd name="adj" fmla="val 1103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3257218" y="3505200"/>
            <a:ext cx="262971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pathways</a:t>
            </a:r>
            <a:endParaRPr lang="en-US" sz="1350" dirty="0"/>
          </a:p>
        </p:txBody>
      </p:sp>
      <p:sp>
        <p:nvSpPr>
          <p:cNvPr id="44" name="Text 41"/>
          <p:cNvSpPr/>
          <p:nvPr/>
        </p:nvSpPr>
        <p:spPr>
          <a:xfrm>
            <a:off x="3257218" y="3764161"/>
            <a:ext cx="262971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Producer, CHE, or own business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6032599" y="3429000"/>
            <a:ext cx="2730550" cy="517922"/>
          </a:xfrm>
          <a:prstGeom prst="roundRect">
            <a:avLst>
              <a:gd name="adj" fmla="val 1103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6083018" y="3505200"/>
            <a:ext cx="262971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350" dirty="0"/>
          </a:p>
        </p:txBody>
      </p:sp>
      <p:sp>
        <p:nvSpPr>
          <p:cNvPr id="47" name="Text 44"/>
          <p:cNvSpPr/>
          <p:nvPr/>
        </p:nvSpPr>
        <p:spPr>
          <a:xfrm>
            <a:off x="6083018" y="3764161"/>
            <a:ext cx="262971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 and support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381000" y="4175522"/>
            <a:ext cx="8382000" cy="207615"/>
          </a:xfrm>
          <a:prstGeom prst="roundRect">
            <a:avLst>
              <a:gd name="adj" fmla="val 1835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495300" y="4232672"/>
            <a:ext cx="831646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CHW = Community Health Worker | VSLA = Village Savings and Loan Association | CHE = Community Health Entrepreneur</a:t>
            </a:r>
            <a:endParaRPr lang="en-US" sz="5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64219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Rebloom Pads: Green Health for Communities</a:t>
            </a:r>
            <a:endParaRPr lang="en-US" sz="2250" dirty="0"/>
          </a:p>
        </p:txBody>
      </p:sp>
      <p:pic>
        <p:nvPicPr>
          <p:cNvPr id="3" name="Image 0" descr="/tmp/rasterized-gradient-842ce0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350764"/>
            <a:ext cx="5753100" cy="19353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350" y="1484114"/>
            <a:ext cx="5596128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REBLOOM PAD KIT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514350" y="2127945"/>
            <a:ext cx="16244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of 4 pads, lasts 2-3 years</a:t>
            </a:r>
            <a:endParaRPr lang="en-US" sz="675" dirty="0"/>
          </a:p>
        </p:txBody>
      </p:sp>
      <p:sp>
        <p:nvSpPr>
          <p:cNvPr id="6" name="Text 3"/>
          <p:cNvSpPr/>
          <p:nvPr/>
        </p:nvSpPr>
        <p:spPr>
          <a:xfrm>
            <a:off x="514350" y="2286000"/>
            <a:ext cx="16244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15,000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4350" y="2571750"/>
            <a:ext cx="16244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 USD | 70% cheaper than disposables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2221260" y="1666875"/>
            <a:ext cx="3779490" cy="14859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cotton flannel outer layer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absorbent core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Waterproof backing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snap fasteners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wash and dry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81000" y="3400425"/>
            <a:ext cx="5868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GREEN HEALTH PRODUCTS (Year 2+)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1000" y="3609975"/>
            <a:ext cx="2847975" cy="358080"/>
          </a:xfrm>
          <a:prstGeom prst="roundRect">
            <a:avLst>
              <a:gd name="adj" fmla="val 1596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" y="3686175"/>
            <a:ext cx="27494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Eco-Soap Bars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457200" y="3800475"/>
            <a:ext cx="2749487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ingredients, plastic-free, locally handmade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286125" y="3609975"/>
            <a:ext cx="2847975" cy="358080"/>
          </a:xfrm>
          <a:prstGeom prst="roundRect">
            <a:avLst>
              <a:gd name="adj" fmla="val 1596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362325" y="3686175"/>
            <a:ext cx="27494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Herbal Remedies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3362325" y="3800475"/>
            <a:ext cx="2749487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medicine, sustainably sourced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81000" y="4044255"/>
            <a:ext cx="2847975" cy="358080"/>
          </a:xfrm>
          <a:prstGeom prst="roundRect">
            <a:avLst>
              <a:gd name="adj" fmla="val 1596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57200" y="4120455"/>
            <a:ext cx="27494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Purification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457200" y="4234755"/>
            <a:ext cx="2749487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filters for safe drinking water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3286125" y="4044255"/>
            <a:ext cx="2847975" cy="358080"/>
          </a:xfrm>
          <a:prstGeom prst="roundRect">
            <a:avLst>
              <a:gd name="adj" fmla="val 1596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362325" y="4120455"/>
            <a:ext cx="27494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Repellents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3362325" y="4234755"/>
            <a:ext cx="2749487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Plant-based mosquito protection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286500" y="1619548"/>
            <a:ext cx="2476500" cy="1915864"/>
          </a:xfrm>
          <a:prstGeom prst="roundRect">
            <a:avLst>
              <a:gd name="adj" fmla="val 3977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400800" y="1733848"/>
            <a:ext cx="22928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IMPACT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400800" y="1943398"/>
            <a:ext cx="22928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years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0" y="2202359"/>
            <a:ext cx="22928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1 disposable pad to decompose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6400800" y="2398514"/>
            <a:ext cx="22928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6400800" y="2657475"/>
            <a:ext cx="22928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Disposables prevented per Rebloom Pad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6400800" y="2853630"/>
            <a:ext cx="22928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400800" y="3112591"/>
            <a:ext cx="22928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solid waste vs. disposables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6400800" y="3327797"/>
            <a:ext cx="229285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0"/>
              </a:spcBef>
              <a:buNone/>
            </a:pPr>
            <a:r>
              <a:rPr lang="en-US" sz="52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Rheinländer et al., Science of Total Environment 2020</a:t>
            </a:r>
            <a:endParaRPr lang="en-US" sz="525" dirty="0"/>
          </a:p>
        </p:txBody>
      </p:sp>
      <p:sp>
        <p:nvSpPr>
          <p:cNvPr id="31" name="Text 28"/>
          <p:cNvSpPr/>
          <p:nvPr/>
        </p:nvSpPr>
        <p:spPr>
          <a:xfrm>
            <a:off x="6286500" y="3611612"/>
            <a:ext cx="2476500" cy="521791"/>
          </a:xfrm>
          <a:prstGeom prst="roundRect">
            <a:avLst>
              <a:gd name="adj" fmla="val 10953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381750" y="3706862"/>
            <a:ext cx="23317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6381750" y="3840212"/>
            <a:ext cx="233172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and only local producer in Teso sub-region. No transport costs from Kampala/Masaka. Direct community relationships.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5857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Model: Training to Impact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908822" y="1104156"/>
            <a:ext cx="1326207" cy="481905"/>
          </a:xfrm>
          <a:prstGeom prst="roundRect">
            <a:avLst>
              <a:gd name="adj" fmla="val 11859"/>
            </a:avLst>
          </a:prstGeom>
          <a:solidFill>
            <a:srgbClr val="424242"/>
          </a:solidFill>
          <a:ln w="19050">
            <a:solidFill>
              <a:srgbClr val="6161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09301" y="1218456"/>
            <a:ext cx="925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ACTIVITIES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09301" y="1351806"/>
            <a:ext cx="9252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Production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4538663" y="1643211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07160" y="1886992"/>
            <a:ext cx="1729532" cy="443805"/>
          </a:xfrm>
          <a:prstGeom prst="roundRect">
            <a:avLst>
              <a:gd name="adj" fmla="val 12877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84174" y="1982242"/>
            <a:ext cx="1375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84174" y="2115592"/>
            <a:ext cx="137550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Rebloom Reusable Menstrual Pads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295180" y="2387947"/>
            <a:ext cx="97762" cy="179040"/>
          </a:xfrm>
          <a:prstGeom prst="rect">
            <a:avLst/>
          </a:prstGeom>
          <a:noFill/>
          <a:ln/>
        </p:spPr>
        <p:txBody>
          <a:bodyPr wrap="square" lIns="0" tIns="1905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↙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43425" y="2387947"/>
            <a:ext cx="58293" cy="179040"/>
          </a:xfrm>
          <a:prstGeom prst="rect">
            <a:avLst/>
          </a:prstGeom>
          <a:noFill/>
          <a:ln/>
        </p:spPr>
        <p:txBody>
          <a:bodyPr wrap="square" lIns="0" tIns="1905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2975" y="2387947"/>
            <a:ext cx="97762" cy="179040"/>
          </a:xfrm>
          <a:prstGeom prst="rect">
            <a:avLst/>
          </a:prstGeom>
          <a:noFill/>
          <a:ln/>
        </p:spPr>
        <p:txBody>
          <a:bodyPr wrap="square" lIns="0" tIns="1905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47875" y="2624138"/>
            <a:ext cx="1619250" cy="674191"/>
          </a:xfrm>
          <a:prstGeom prst="roundRect">
            <a:avLst>
              <a:gd name="adj" fmla="val 8477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57984" y="2709863"/>
            <a:ext cx="13990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 1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157984" y="2814638"/>
            <a:ext cx="13990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Sales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2157984" y="2953643"/>
            <a:ext cx="139903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to consumers, CHE network</a:t>
            </a:r>
            <a:endParaRPr lang="en-US" sz="525" dirty="0"/>
          </a:p>
        </p:txBody>
      </p:sp>
      <p:sp>
        <p:nvSpPr>
          <p:cNvPr id="17" name="Text 15"/>
          <p:cNvSpPr/>
          <p:nvPr/>
        </p:nvSpPr>
        <p:spPr>
          <a:xfrm>
            <a:off x="2157984" y="3066008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$400-600/mo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762375" y="2624138"/>
            <a:ext cx="1619250" cy="674191"/>
          </a:xfrm>
          <a:prstGeom prst="roundRect">
            <a:avLst>
              <a:gd name="adj" fmla="val 8477"/>
            </a:avLst>
          </a:prstGeom>
          <a:solidFill>
            <a:srgbClr val="E3F2FD"/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72484" y="2709863"/>
            <a:ext cx="13990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 2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872484" y="2814638"/>
            <a:ext cx="13990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NGO/Clinic Supply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872484" y="2953643"/>
            <a:ext cx="139903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Schools, health facilities</a:t>
            </a:r>
            <a:endParaRPr lang="en-US" sz="525" dirty="0"/>
          </a:p>
        </p:txBody>
      </p:sp>
      <p:sp>
        <p:nvSpPr>
          <p:cNvPr id="22" name="Text 20"/>
          <p:cNvSpPr/>
          <p:nvPr/>
        </p:nvSpPr>
        <p:spPr>
          <a:xfrm>
            <a:off x="3872484" y="3066008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$400-600/mo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476875" y="2624138"/>
            <a:ext cx="1619250" cy="674191"/>
          </a:xfrm>
          <a:prstGeom prst="roundRect">
            <a:avLst>
              <a:gd name="adj" fmla="val 8477"/>
            </a:avLst>
          </a:prstGeom>
          <a:solidFill>
            <a:srgbClr val="FFF3E0"/>
          </a:solidFill>
          <a:ln w="9525">
            <a:solidFill>
              <a:srgbClr val="E651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86984" y="2709863"/>
            <a:ext cx="13990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SERVICES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5586984" y="2814638"/>
            <a:ext cx="13990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and Rights Education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5586984" y="2953643"/>
            <a:ext cx="139903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MHM workshops, training</a:t>
            </a:r>
            <a:endParaRPr lang="en-US" sz="525" dirty="0"/>
          </a:p>
        </p:txBody>
      </p:sp>
      <p:sp>
        <p:nvSpPr>
          <p:cNvPr id="27" name="Text 25"/>
          <p:cNvSpPr/>
          <p:nvPr/>
        </p:nvSpPr>
        <p:spPr>
          <a:xfrm>
            <a:off x="5586984" y="3066008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$200-350/mo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295180" y="3355479"/>
            <a:ext cx="977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43425" y="3355479"/>
            <a:ext cx="582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2975" y="3355479"/>
            <a:ext cx="977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↙</a:t>
            </a:r>
            <a:endParaRPr lang="en-US" sz="900" dirty="0"/>
          </a:p>
        </p:txBody>
      </p:sp>
      <p:pic>
        <p:nvPicPr>
          <p:cNvPr id="31" name="Image 0" descr="/tmp/rasterized-gradient-c697b8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2423" y="3572619"/>
            <a:ext cx="2279005" cy="443805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3642805" y="3667869"/>
            <a:ext cx="18582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IMPACT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642805" y="3801219"/>
            <a:ext cx="185824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| Environment | Economic Empowerment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381000" y="4111675"/>
            <a:ext cx="2743200" cy="403771"/>
          </a:xfrm>
          <a:prstGeom prst="roundRect">
            <a:avLst>
              <a:gd name="adj" fmla="val 943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11861" y="4168825"/>
            <a:ext cx="26814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$1,000-$1,550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11861" y="4364980"/>
            <a:ext cx="268147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</a:t>
            </a:r>
            <a:endParaRPr lang="en-US" sz="525" dirty="0"/>
          </a:p>
        </p:txBody>
      </p:sp>
      <p:sp>
        <p:nvSpPr>
          <p:cNvPr id="37" name="Text 34"/>
          <p:cNvSpPr/>
          <p:nvPr/>
        </p:nvSpPr>
        <p:spPr>
          <a:xfrm>
            <a:off x="3200400" y="4111675"/>
            <a:ext cx="2743200" cy="403771"/>
          </a:xfrm>
          <a:prstGeom prst="roundRect">
            <a:avLst>
              <a:gd name="adj" fmla="val 943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231261" y="4168825"/>
            <a:ext cx="26814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$12,000+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3231261" y="4364980"/>
            <a:ext cx="268147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Revenue</a:t>
            </a:r>
            <a:endParaRPr lang="en-US" sz="525" dirty="0"/>
          </a:p>
        </p:txBody>
      </p:sp>
      <p:sp>
        <p:nvSpPr>
          <p:cNvPr id="40" name="Text 37"/>
          <p:cNvSpPr/>
          <p:nvPr/>
        </p:nvSpPr>
        <p:spPr>
          <a:xfrm>
            <a:off x="6019800" y="4111675"/>
            <a:ext cx="2743200" cy="403771"/>
          </a:xfrm>
          <a:prstGeom prst="roundRect">
            <a:avLst>
              <a:gd name="adj" fmla="val 943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050661" y="4168825"/>
            <a:ext cx="26814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8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050661" y="4364980"/>
            <a:ext cx="268147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Target</a:t>
            </a:r>
            <a:endParaRPr lang="en-US" sz="5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62567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Culturally Rooted: Community-Led Approach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750516"/>
            <a:ext cx="5562600" cy="565547"/>
          </a:xfrm>
          <a:prstGeom prst="roundRect">
            <a:avLst>
              <a:gd name="adj" fmla="val 13474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750516"/>
            <a:ext cx="0" cy="565547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1845766"/>
            <a:ext cx="54406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LANGUAGE DELIVERY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14350" y="1998166"/>
            <a:ext cx="5440680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training, counseling, and MHM education delivered in </a:t>
            </a:r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Ateso</a:t>
            </a:r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Lugwere</a:t>
            </a:r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the primary languages of Pallisa District and Bukedi sub-region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81000" y="2392263"/>
            <a:ext cx="5562600" cy="454223"/>
          </a:xfrm>
          <a:prstGeom prst="roundRect">
            <a:avLst>
              <a:gd name="adj" fmla="val 1677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392263"/>
            <a:ext cx="0" cy="454223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" y="2487513"/>
            <a:ext cx="54406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LEADERSHIP INTEGRATION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14350" y="2639913"/>
            <a:ext cx="544068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</a:t>
            </a:r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clan elders</a:t>
            </a:r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 leaders</a:t>
            </a:r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pPr algn="l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religious leaders</a:t>
            </a:r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program ambassadors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81000" y="2922687"/>
            <a:ext cx="5562600" cy="454223"/>
          </a:xfrm>
          <a:prstGeom prst="roundRect">
            <a:avLst>
              <a:gd name="adj" fmla="val 16776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922687"/>
            <a:ext cx="0" cy="454223"/>
          </a:xfrm>
          <a:prstGeom prst="line">
            <a:avLst/>
          </a:prstGeom>
          <a:noFill/>
          <a:ln w="381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350" y="3017937"/>
            <a:ext cx="54406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RESPECTING TRADITIONAL PRACTICES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14350" y="3170337"/>
            <a:ext cx="544068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MHM education builds on existing cultural knowledge. Peer-to-peer approach: CHEs from same communities they serve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81000" y="3453110"/>
            <a:ext cx="5562600" cy="454223"/>
          </a:xfrm>
          <a:prstGeom prst="roundRect">
            <a:avLst>
              <a:gd name="adj" fmla="val 16776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3453110"/>
            <a:ext cx="0" cy="454223"/>
          </a:xfrm>
          <a:prstGeom prst="line">
            <a:avLst/>
          </a:prstGeom>
          <a:noFill/>
          <a:ln w="381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350" y="3548360"/>
            <a:ext cx="54406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COMMUNITY-LED DESIGN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14350" y="3700760"/>
            <a:ext cx="544068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board includes local women leaders, health workers, and GBV survivors to guide program decisions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6096000" y="1502718"/>
            <a:ext cx="2667000" cy="785515"/>
          </a:xfrm>
          <a:prstGeom prst="roundRect">
            <a:avLst>
              <a:gd name="adj" fmla="val 9701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0300" y="1617018"/>
            <a:ext cx="24871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10300" y="1807518"/>
            <a:ext cx="2487168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pPr algn="l" indent="0" marL="0">
              <a:lnSpc>
                <a:spcPts val="877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Bukedi GBV survivors tell no one about their abuse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6210300" y="1975991"/>
            <a:ext cx="248716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</a:t>
            </a:r>
            <a:pPr algn="l" indent="0" marL="0">
              <a:lnSpc>
                <a:spcPts val="78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silence rate</a:t>
            </a:r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Uganda. Breaking this silence requires cultural sensitivity and trusted local voices.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6096000" y="2364432"/>
            <a:ext cx="2667000" cy="1790700"/>
          </a:xfrm>
          <a:prstGeom prst="roundRect">
            <a:avLst>
              <a:gd name="adj" fmla="val 425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91250" y="2459682"/>
            <a:ext cx="25260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KEVIN'S LOCAL ADVANTAGE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6191250" y="2612082"/>
            <a:ext cx="2476500" cy="14478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Ateso speaker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 in Lugwere and Luganda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 in Kumi District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CHW relationships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66162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Health Entrepreneur (CHE) Network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362224"/>
            <a:ext cx="5562600" cy="639961"/>
          </a:xfrm>
          <a:prstGeom prst="roundRect">
            <a:avLst>
              <a:gd name="adj" fmla="val 1190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362224"/>
            <a:ext cx="0" cy="639961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476524"/>
            <a:ext cx="54018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MODEL: LAST-MILE DISTRIBUTION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33400" y="1647974"/>
            <a:ext cx="540181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Health Entrepreneurs (CHEs) are trained women who distribute Rebloom Pads and green health products door-to-door, earning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20-25% commission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every sale while providing Menstrual Hygiene Management (MHM) education in Ateso and Lugwere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81000" y="2116485"/>
            <a:ext cx="5673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 BENEFITS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2326035"/>
            <a:ext cx="2743200" cy="1466850"/>
          </a:xfrm>
          <a:prstGeom prst="roundRect">
            <a:avLst>
              <a:gd name="adj" fmla="val 389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2402235"/>
            <a:ext cx="26426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CHEs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57200" y="2535585"/>
            <a:ext cx="2590800" cy="11811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20-25% commission on sales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work from home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training provided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kit worth UGX 200,000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00400" y="2326035"/>
            <a:ext cx="2743200" cy="1466850"/>
          </a:xfrm>
          <a:prstGeom prst="roundRect">
            <a:avLst>
              <a:gd name="adj" fmla="val 389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76600" y="2402235"/>
            <a:ext cx="26426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Communities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276600" y="2535585"/>
            <a:ext cx="2590800" cy="11811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at their doorstep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education included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local prices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neighbor as source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81000" y="3869085"/>
            <a:ext cx="5562600" cy="521791"/>
          </a:xfrm>
          <a:prstGeom prst="roundRect">
            <a:avLst>
              <a:gd name="adj" fmla="val 14604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3869085"/>
            <a:ext cx="0" cy="521791"/>
          </a:xfrm>
          <a:prstGeom prst="line">
            <a:avLst/>
          </a:prstGeom>
          <a:noFill/>
          <a:ln w="381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350" y="3964335"/>
            <a:ext cx="54406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SURVIVOR-TO-CHE PATHWAY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14350" y="4097685"/>
            <a:ext cx="544068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Gender-Based Violence (GBV) survivors who complete rehabilitation can graduate to become CHEs, receiving starter kit and ongoing mentorship. This creates complete economic independence - breaking the cycle of abuse.</a:t>
            </a:r>
            <a:endParaRPr lang="en-US" sz="600" dirty="0"/>
          </a:p>
        </p:txBody>
      </p:sp>
      <p:pic>
        <p:nvPicPr>
          <p:cNvPr id="18" name="Image 0" descr="/tmp/rasterized-gradient-69e5360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149846"/>
            <a:ext cx="2667000" cy="224016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229350" y="1283196"/>
            <a:ext cx="24483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PALLISA DISTRICT ADVANTAGE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229350" y="1492746"/>
            <a:ext cx="244830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Kevin's existing Community Health Worker (CHW) network from Baylor-Uganda: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6229350" y="1808857"/>
            <a:ext cx="2400300" cy="14478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mothers network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management assistants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facility connections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trust relationships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096000" y="3466207"/>
            <a:ext cx="2667000" cy="801886"/>
          </a:xfrm>
          <a:prstGeom prst="roundRect">
            <a:avLst>
              <a:gd name="adj" fmla="val 950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210300" y="3580507"/>
            <a:ext cx="24871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CHE TARGETS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198489" y="3761482"/>
            <a:ext cx="12047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198489" y="4047232"/>
            <a:ext cx="120472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CHEs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7455789" y="3761482"/>
            <a:ext cx="12047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455789" y="4047232"/>
            <a:ext cx="120472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Villages reached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6096000" y="4344293"/>
            <a:ext cx="2667000" cy="258961"/>
          </a:xfrm>
          <a:prstGeom prst="roundRect">
            <a:avLst>
              <a:gd name="adj" fmla="val 22069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47054" y="4420493"/>
            <a:ext cx="25648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Inspired by Solar Sister and Avon models proven in rural Africa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3816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Impact Projections</a:t>
            </a:r>
            <a:endParaRPr lang="en-US" sz="2250" dirty="0"/>
          </a:p>
        </p:txBody>
      </p:sp>
      <p:pic>
        <p:nvPicPr>
          <p:cNvPr id="3" name="Image 0" descr="/tmp/rasterized-gradient-cff1910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336625"/>
            <a:ext cx="2009775" cy="1062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919" y="1469975"/>
            <a:ext cx="177793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96919" y="1988046"/>
            <a:ext cx="17779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GBV Survivors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496919" y="2121396"/>
            <a:ext cx="177793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Completing rehabilitation</a:t>
            </a:r>
            <a:endParaRPr lang="en-US" sz="600" dirty="0"/>
          </a:p>
        </p:txBody>
      </p:sp>
      <p:pic>
        <p:nvPicPr>
          <p:cNvPr id="7" name="Image 1" descr="/tmp/rasterized-gradient-c8f29b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75" y="1336625"/>
            <a:ext cx="2009775" cy="10627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20994" y="1469975"/>
            <a:ext cx="177793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2620994" y="1988046"/>
            <a:ext cx="17779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Created</a:t>
            </a:r>
            <a:endParaRPr lang="en-US" sz="825" dirty="0"/>
          </a:p>
        </p:txBody>
      </p:sp>
      <p:sp>
        <p:nvSpPr>
          <p:cNvPr id="10" name="Text 6"/>
          <p:cNvSpPr/>
          <p:nvPr/>
        </p:nvSpPr>
        <p:spPr>
          <a:xfrm>
            <a:off x="2620994" y="2121396"/>
            <a:ext cx="177793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Producers and staff</a:t>
            </a:r>
            <a:endParaRPr lang="en-US" sz="600" dirty="0"/>
          </a:p>
        </p:txBody>
      </p:sp>
      <p:pic>
        <p:nvPicPr>
          <p:cNvPr id="11" name="Image 2" descr="/tmp/rasterized-gradient-e1c3220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0" y="1336625"/>
            <a:ext cx="2009775" cy="10627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45069" y="1469975"/>
            <a:ext cx="177793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700" dirty="0"/>
          </a:p>
        </p:txBody>
      </p:sp>
      <p:sp>
        <p:nvSpPr>
          <p:cNvPr id="13" name="Text 8"/>
          <p:cNvSpPr/>
          <p:nvPr/>
        </p:nvSpPr>
        <p:spPr>
          <a:xfrm>
            <a:off x="4745069" y="1988046"/>
            <a:ext cx="17779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CHEs</a:t>
            </a:r>
            <a:endParaRPr lang="en-US" sz="825" dirty="0"/>
          </a:p>
        </p:txBody>
      </p:sp>
      <p:sp>
        <p:nvSpPr>
          <p:cNvPr id="14" name="Text 9"/>
          <p:cNvSpPr/>
          <p:nvPr/>
        </p:nvSpPr>
        <p:spPr>
          <a:xfrm>
            <a:off x="4745069" y="2121396"/>
            <a:ext cx="177793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 commission income</a:t>
            </a:r>
            <a:endParaRPr lang="en-US" sz="600" dirty="0"/>
          </a:p>
        </p:txBody>
      </p:sp>
      <p:pic>
        <p:nvPicPr>
          <p:cNvPr id="15" name="Image 3" descr="/tmp/rasterized-gradient-9f37d6d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225" y="1336625"/>
            <a:ext cx="2009775" cy="106278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69144" y="1469975"/>
            <a:ext cx="177793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750+</a:t>
            </a:r>
            <a:endParaRPr lang="en-US" sz="2700" dirty="0"/>
          </a:p>
        </p:txBody>
      </p:sp>
      <p:sp>
        <p:nvSpPr>
          <p:cNvPr id="17" name="Text 11"/>
          <p:cNvSpPr/>
          <p:nvPr/>
        </p:nvSpPr>
        <p:spPr>
          <a:xfrm>
            <a:off x="6869144" y="1988046"/>
            <a:ext cx="17779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Girls Reached</a:t>
            </a:r>
            <a:endParaRPr lang="en-US" sz="825" dirty="0"/>
          </a:p>
        </p:txBody>
      </p:sp>
      <p:sp>
        <p:nvSpPr>
          <p:cNvPr id="18" name="Text 12"/>
          <p:cNvSpPr/>
          <p:nvPr/>
        </p:nvSpPr>
        <p:spPr>
          <a:xfrm>
            <a:off x="6869144" y="2121396"/>
            <a:ext cx="177793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affordable Rebloom Pads</a:t>
            </a:r>
            <a:endParaRPr lang="en-US" sz="600" dirty="0"/>
          </a:p>
        </p:txBody>
      </p:sp>
      <p:sp>
        <p:nvSpPr>
          <p:cNvPr id="19" name="Text 13"/>
          <p:cNvSpPr/>
          <p:nvPr/>
        </p:nvSpPr>
        <p:spPr>
          <a:xfrm>
            <a:off x="381000" y="2494657"/>
            <a:ext cx="5600700" cy="1121866"/>
          </a:xfrm>
          <a:prstGeom prst="roundRect">
            <a:avLst>
              <a:gd name="adj" fmla="val 6792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514350" y="2628007"/>
            <a:ext cx="54406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IMPACT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514350" y="2828032"/>
            <a:ext cx="1060659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150,000+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514350" y="3193703"/>
            <a:ext cx="106065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Disposables prevented</a:t>
            </a:r>
            <a:endParaRPr lang="en-US" sz="675" dirty="0"/>
          </a:p>
        </p:txBody>
      </p:sp>
      <p:sp>
        <p:nvSpPr>
          <p:cNvPr id="23" name="Text 17"/>
          <p:cNvSpPr/>
          <p:nvPr/>
        </p:nvSpPr>
        <p:spPr>
          <a:xfrm>
            <a:off x="1744712" y="2828032"/>
            <a:ext cx="934054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750+ kg</a:t>
            </a:r>
            <a:endParaRPr lang="en-US" sz="1950" dirty="0"/>
          </a:p>
        </p:txBody>
      </p:sp>
      <p:sp>
        <p:nvSpPr>
          <p:cNvPr id="24" name="Text 18"/>
          <p:cNvSpPr/>
          <p:nvPr/>
        </p:nvSpPr>
        <p:spPr>
          <a:xfrm>
            <a:off x="1744712" y="3193703"/>
            <a:ext cx="93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Plastic waste diverted</a:t>
            </a:r>
            <a:endParaRPr lang="en-US" sz="675" dirty="0"/>
          </a:p>
        </p:txBody>
      </p:sp>
      <p:sp>
        <p:nvSpPr>
          <p:cNvPr id="25" name="Text 19"/>
          <p:cNvSpPr/>
          <p:nvPr/>
        </p:nvSpPr>
        <p:spPr>
          <a:xfrm>
            <a:off x="514350" y="3389858"/>
            <a:ext cx="54406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600"/>
              </a:spcBef>
              <a:buNone/>
            </a:pPr>
            <a:r>
              <a:rPr lang="en-US" sz="525" i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disposable pad takes 500+ years to decompose (Rheinländer et al., 2020)</a:t>
            </a:r>
            <a:endParaRPr lang="en-US" sz="525" dirty="0"/>
          </a:p>
        </p:txBody>
      </p:sp>
      <p:sp>
        <p:nvSpPr>
          <p:cNvPr id="26" name="Text 20"/>
          <p:cNvSpPr/>
          <p:nvPr/>
        </p:nvSpPr>
        <p:spPr>
          <a:xfrm>
            <a:off x="6096000" y="2515642"/>
            <a:ext cx="2667000" cy="1079897"/>
          </a:xfrm>
          <a:prstGeom prst="roundRect">
            <a:avLst>
              <a:gd name="adj" fmla="val 70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6210300" y="2629942"/>
            <a:ext cx="24871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METRICS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6198584" y="2810917"/>
            <a:ext cx="11950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198584" y="3024188"/>
            <a:ext cx="119500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Villages covered</a:t>
            </a:r>
            <a:endParaRPr lang="en-US" sz="525" dirty="0"/>
          </a:p>
        </p:txBody>
      </p:sp>
      <p:sp>
        <p:nvSpPr>
          <p:cNvPr id="30" name="Text 24"/>
          <p:cNvSpPr/>
          <p:nvPr/>
        </p:nvSpPr>
        <p:spPr>
          <a:xfrm>
            <a:off x="7465409" y="2810917"/>
            <a:ext cx="11950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3,000+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465409" y="3024188"/>
            <a:ext cx="119500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days saved</a:t>
            </a:r>
            <a:endParaRPr lang="en-US" sz="525" dirty="0"/>
          </a:p>
        </p:txBody>
      </p:sp>
      <p:sp>
        <p:nvSpPr>
          <p:cNvPr id="32" name="Text 26"/>
          <p:cNvSpPr/>
          <p:nvPr/>
        </p:nvSpPr>
        <p:spPr>
          <a:xfrm>
            <a:off x="6198584" y="3174653"/>
            <a:ext cx="11950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2,000+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198584" y="3387923"/>
            <a:ext cx="119500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 served</a:t>
            </a:r>
            <a:endParaRPr lang="en-US" sz="525" dirty="0"/>
          </a:p>
        </p:txBody>
      </p:sp>
      <p:sp>
        <p:nvSpPr>
          <p:cNvPr id="34" name="Text 28"/>
          <p:cNvSpPr/>
          <p:nvPr/>
        </p:nvSpPr>
        <p:spPr>
          <a:xfrm>
            <a:off x="7465409" y="3174653"/>
            <a:ext cx="11950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$12K+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7465409" y="3387923"/>
            <a:ext cx="119500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revenue</a:t>
            </a:r>
            <a:endParaRPr lang="en-US" sz="525" dirty="0"/>
          </a:p>
        </p:txBody>
      </p:sp>
      <p:pic>
        <p:nvPicPr>
          <p:cNvPr id="36" name="Image 4" descr="/tmp/rasterized-gradient-cd26ec9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711773"/>
            <a:ext cx="8382000" cy="33709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52628" y="3807023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survivor rehabilitated can become a producer | Every producer can become a CHE entrepreneur</a:t>
            </a:r>
            <a:endParaRPr lang="en-US" sz="825" dirty="0"/>
          </a:p>
        </p:txBody>
      </p:sp>
      <p:sp>
        <p:nvSpPr>
          <p:cNvPr id="38" name="Text 31"/>
          <p:cNvSpPr/>
          <p:nvPr/>
        </p:nvSpPr>
        <p:spPr>
          <a:xfrm>
            <a:off x="381000" y="4144119"/>
            <a:ext cx="8382000" cy="272355"/>
          </a:xfrm>
          <a:prstGeom prst="roundRect">
            <a:avLst>
              <a:gd name="adj" fmla="val 20984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413766" y="4220319"/>
            <a:ext cx="831646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 BUKEDI:</a:t>
            </a:r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Rebloom Collective will establish the first local reusable menstrual pad production facility in Bukedi sub-region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65482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 Will Succeed: My Competitive Advantage</a:t>
            </a:r>
            <a:endParaRPr lang="en-US" sz="2250" dirty="0"/>
          </a:p>
        </p:txBody>
      </p:sp>
      <p:pic>
        <p:nvPicPr>
          <p:cNvPr id="3" name="Image 0" descr="/tmp/rasterized-gradient-999d39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607046"/>
            <a:ext cx="1905000" cy="9428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7967" y="1740396"/>
            <a:ext cx="167106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👩‍🎓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97967" y="2098477"/>
            <a:ext cx="16710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Aujo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7967" y="2296567"/>
            <a:ext cx="16710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Kumi District, Eastern Uganda</a:t>
            </a:r>
            <a:endParaRPr lang="en-US" sz="675" dirty="0"/>
          </a:p>
        </p:txBody>
      </p:sp>
      <p:sp>
        <p:nvSpPr>
          <p:cNvPr id="7" name="Text 4"/>
          <p:cNvSpPr/>
          <p:nvPr/>
        </p:nvSpPr>
        <p:spPr>
          <a:xfrm>
            <a:off x="381000" y="2626072"/>
            <a:ext cx="1905000" cy="1072455"/>
          </a:xfrm>
          <a:prstGeom prst="roundRect">
            <a:avLst>
              <a:gd name="adj" fmla="val 532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76250" y="2721322"/>
            <a:ext cx="17487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600" b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76250" y="2864197"/>
            <a:ext cx="1714500" cy="312390"/>
          </a:xfrm>
          <a:prstGeom prst="roundRect">
            <a:avLst>
              <a:gd name="adj" fmla="val 121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33400" y="2921347"/>
            <a:ext cx="16322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of Public Health (MPH)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533400" y="3026122"/>
            <a:ext cx="1632204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 Martyrs University (UMU)</a:t>
            </a:r>
            <a:endParaRPr lang="en-US" sz="525" dirty="0"/>
          </a:p>
        </p:txBody>
      </p:sp>
      <p:sp>
        <p:nvSpPr>
          <p:cNvPr id="12" name="Text 9"/>
          <p:cNvSpPr/>
          <p:nvPr/>
        </p:nvSpPr>
        <p:spPr>
          <a:xfrm>
            <a:off x="476250" y="3214688"/>
            <a:ext cx="1714500" cy="388590"/>
          </a:xfrm>
          <a:prstGeom prst="roundRect">
            <a:avLst>
              <a:gd name="adj" fmla="val 980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3400" y="3271838"/>
            <a:ext cx="16322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Bachelor of Social Work and Social Administration (BSWASA)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33400" y="3452813"/>
            <a:ext cx="1632204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Kyambogo University</a:t>
            </a:r>
            <a:endParaRPr lang="en-US" sz="525" dirty="0"/>
          </a:p>
        </p:txBody>
      </p:sp>
      <p:sp>
        <p:nvSpPr>
          <p:cNvPr id="15" name="Text 12"/>
          <p:cNvSpPr/>
          <p:nvPr/>
        </p:nvSpPr>
        <p:spPr>
          <a:xfrm>
            <a:off x="381000" y="3774728"/>
            <a:ext cx="1905000" cy="371326"/>
          </a:xfrm>
          <a:prstGeom prst="roundRect">
            <a:avLst>
              <a:gd name="adj" fmla="val 15391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39674" y="3850928"/>
            <a:ext cx="178765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Ateso speaker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39674" y="3976539"/>
            <a:ext cx="178765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Fluent: Lugwere, Luganda, English</a:t>
            </a:r>
            <a:endParaRPr lang="en-US" sz="525" dirty="0"/>
          </a:p>
        </p:txBody>
      </p:sp>
      <p:sp>
        <p:nvSpPr>
          <p:cNvPr id="18" name="Text 15"/>
          <p:cNvSpPr/>
          <p:nvPr/>
        </p:nvSpPr>
        <p:spPr>
          <a:xfrm>
            <a:off x="2438400" y="1935807"/>
            <a:ext cx="3138488" cy="436066"/>
          </a:xfrm>
          <a:prstGeom prst="roundRect">
            <a:avLst>
              <a:gd name="adj" fmla="val 13106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2452688" y="1935807"/>
            <a:ext cx="0" cy="436066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43175" y="2012007"/>
            <a:ext cx="30166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GBV Support Experience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2543175" y="2135832"/>
            <a:ext cx="3016663" cy="15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Counseling Gender-Based Violence survivors at Pallisa shelter under Probation and Welfare Office. Community dialogues and district GBV coordination.</a:t>
            </a:r>
            <a:endParaRPr lang="en-US" sz="525" dirty="0"/>
          </a:p>
        </p:txBody>
      </p:sp>
      <p:sp>
        <p:nvSpPr>
          <p:cNvPr id="22" name="Text 19"/>
          <p:cNvSpPr/>
          <p:nvPr/>
        </p:nvSpPr>
        <p:spPr>
          <a:xfrm>
            <a:off x="5624513" y="1935807"/>
            <a:ext cx="3138488" cy="436066"/>
          </a:xfrm>
          <a:prstGeom prst="roundRect">
            <a:avLst>
              <a:gd name="adj" fmla="val 1310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638800" y="1935807"/>
            <a:ext cx="0" cy="436066"/>
          </a:xfrm>
          <a:prstGeom prst="line">
            <a:avLst/>
          </a:prstGeom>
          <a:noFill/>
          <a:ln w="28575">
            <a:solidFill>
              <a:srgbClr val="1565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29288" y="2012007"/>
            <a:ext cx="30166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CHW Network Access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5729288" y="2135832"/>
            <a:ext cx="3016663" cy="15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Baylor-Uganda Case Management Officer supervising peer mothers and Community Health Workers. Ready-made CHE recruitment pipeline.</a:t>
            </a:r>
            <a:endParaRPr lang="en-US" sz="525" dirty="0"/>
          </a:p>
        </p:txBody>
      </p:sp>
      <p:sp>
        <p:nvSpPr>
          <p:cNvPr id="26" name="Text 23"/>
          <p:cNvSpPr/>
          <p:nvPr/>
        </p:nvSpPr>
        <p:spPr>
          <a:xfrm>
            <a:off x="2438400" y="2419499"/>
            <a:ext cx="3138488" cy="436066"/>
          </a:xfrm>
          <a:prstGeom prst="roundRect">
            <a:avLst>
              <a:gd name="adj" fmla="val 13106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2452688" y="2419499"/>
            <a:ext cx="0" cy="436066"/>
          </a:xfrm>
          <a:prstGeom prst="line">
            <a:avLst/>
          </a:prstGeom>
          <a:noFill/>
          <a:ln w="28575">
            <a:solidFill>
              <a:srgbClr val="7B1FA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543175" y="2495699"/>
            <a:ext cx="30166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Adolescent Health Educator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2543175" y="2619524"/>
            <a:ext cx="3016663" cy="15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Peer Educator on Adolescent Sexual and Reproductive Health (ASRH) through Naguru Teenage Centre. MHM education expertise.</a:t>
            </a:r>
            <a:endParaRPr lang="en-US" sz="525" dirty="0"/>
          </a:p>
        </p:txBody>
      </p:sp>
      <p:sp>
        <p:nvSpPr>
          <p:cNvPr id="30" name="Text 27"/>
          <p:cNvSpPr/>
          <p:nvPr/>
        </p:nvSpPr>
        <p:spPr>
          <a:xfrm>
            <a:off x="5624513" y="2419499"/>
            <a:ext cx="3138488" cy="436066"/>
          </a:xfrm>
          <a:prstGeom prst="roundRect">
            <a:avLst>
              <a:gd name="adj" fmla="val 13106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5638800" y="2419499"/>
            <a:ext cx="0" cy="436066"/>
          </a:xfrm>
          <a:prstGeom prst="line">
            <a:avLst/>
          </a:prstGeom>
          <a:noFill/>
          <a:ln w="28575">
            <a:solidFill>
              <a:srgbClr val="E651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29288" y="2495699"/>
            <a:ext cx="30166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Mobilization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5729288" y="2619524"/>
            <a:ext cx="3016663" cy="15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track record organizing youth, women, and vulnerable groups across multiple districts in Eastern Uganda.</a:t>
            </a:r>
            <a:endParaRPr lang="en-US" sz="525" dirty="0"/>
          </a:p>
        </p:txBody>
      </p:sp>
      <p:sp>
        <p:nvSpPr>
          <p:cNvPr id="34" name="Text 31"/>
          <p:cNvSpPr/>
          <p:nvPr/>
        </p:nvSpPr>
        <p:spPr>
          <a:xfrm>
            <a:off x="2438400" y="2903190"/>
            <a:ext cx="3138488" cy="436066"/>
          </a:xfrm>
          <a:prstGeom prst="roundRect">
            <a:avLst>
              <a:gd name="adj" fmla="val 13106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2452688" y="2903190"/>
            <a:ext cx="0" cy="436066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543175" y="2979390"/>
            <a:ext cx="30166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Quality Improvement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2543175" y="3103215"/>
            <a:ext cx="3016663" cy="15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data management skills. Quality Improvement project leadership for tracking impact and reporting results to funders.</a:t>
            </a:r>
            <a:endParaRPr lang="en-US" sz="525" dirty="0"/>
          </a:p>
        </p:txBody>
      </p:sp>
      <p:sp>
        <p:nvSpPr>
          <p:cNvPr id="38" name="Text 35"/>
          <p:cNvSpPr/>
          <p:nvPr/>
        </p:nvSpPr>
        <p:spPr>
          <a:xfrm>
            <a:off x="5624513" y="2903190"/>
            <a:ext cx="3138488" cy="436066"/>
          </a:xfrm>
          <a:prstGeom prst="roundRect">
            <a:avLst>
              <a:gd name="adj" fmla="val 13106"/>
            </a:avLst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6"/>
          <p:cNvSpPr/>
          <p:nvPr/>
        </p:nvSpPr>
        <p:spPr>
          <a:xfrm>
            <a:off x="5638800" y="2903190"/>
            <a:ext cx="0" cy="436066"/>
          </a:xfrm>
          <a:prstGeom prst="line">
            <a:avLst/>
          </a:prstGeom>
          <a:noFill/>
          <a:ln w="28575">
            <a:solidFill>
              <a:srgbClr val="00897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729288" y="2979390"/>
            <a:ext cx="30166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Systems Training</a:t>
            </a:r>
            <a:endParaRPr lang="en-US" sz="675" dirty="0"/>
          </a:p>
        </p:txBody>
      </p:sp>
      <p:sp>
        <p:nvSpPr>
          <p:cNvPr id="41" name="Text 38"/>
          <p:cNvSpPr/>
          <p:nvPr/>
        </p:nvSpPr>
        <p:spPr>
          <a:xfrm>
            <a:off x="5729288" y="3103215"/>
            <a:ext cx="3016663" cy="15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training: Building Resilient Health Systems through Community Health Worker (CHW) strengthening.</a:t>
            </a:r>
            <a:endParaRPr lang="en-US" sz="525" dirty="0"/>
          </a:p>
        </p:txBody>
      </p:sp>
      <p:sp>
        <p:nvSpPr>
          <p:cNvPr id="42" name="Text 39"/>
          <p:cNvSpPr/>
          <p:nvPr/>
        </p:nvSpPr>
        <p:spPr>
          <a:xfrm>
            <a:off x="2438400" y="3386882"/>
            <a:ext cx="6324600" cy="430411"/>
          </a:xfrm>
          <a:prstGeom prst="roundRect">
            <a:avLst>
              <a:gd name="adj" fmla="val 13278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2472309" y="3482132"/>
            <a:ext cx="625678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Combination:</a:t>
            </a:r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Public Health + GBV expertise + CHW networks + Local language + Community trust = Competitive moat that outside organizations cannot match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559612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$5,000 WE4A Seed Capital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81000" y="1519684"/>
            <a:ext cx="5562600" cy="935087"/>
          </a:xfrm>
          <a:prstGeom prst="roundRect">
            <a:avLst>
              <a:gd name="adj" fmla="val 8149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653034"/>
            <a:ext cx="5401818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$5,000 WILL FUND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4350" y="1885355"/>
            <a:ext cx="26620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$1,300</a:t>
            </a:r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Production equipment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514350" y="2043410"/>
            <a:ext cx="26620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$1,100</a:t>
            </a:r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GBV center setup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514350" y="2201466"/>
            <a:ext cx="26620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 network launch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200400" y="1964382"/>
            <a:ext cx="26620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$900</a:t>
            </a:r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Raw materials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200400" y="2122438"/>
            <a:ext cx="26620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$700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Operations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81000" y="2550021"/>
            <a:ext cx="5562600" cy="868412"/>
          </a:xfrm>
          <a:prstGeom prst="roundRect">
            <a:avLst>
              <a:gd name="adj" fmla="val 8775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4350" y="2683371"/>
            <a:ext cx="5401818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IMPACT SUMMARY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09480" y="2885182"/>
            <a:ext cx="49670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09480" y="3178522"/>
            <a:ext cx="49670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GBV survivors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149352" y="2885182"/>
            <a:ext cx="44509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49352" y="3178522"/>
            <a:ext cx="44509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created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737759" y="2885182"/>
            <a:ext cx="48152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750+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737759" y="3178522"/>
            <a:ext cx="4815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Girls reached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359210" y="2885182"/>
            <a:ext cx="79075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150K+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359210" y="3178522"/>
            <a:ext cx="79075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Disposables prevented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81000" y="3513683"/>
            <a:ext cx="5562600" cy="757833"/>
          </a:xfrm>
          <a:prstGeom prst="roundRect">
            <a:avLst>
              <a:gd name="adj" fmla="val 10055"/>
            </a:avLst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5300" y="3627983"/>
            <a:ext cx="5440680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VIABILITY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95300" y="3810744"/>
            <a:ext cx="63226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$14,460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5300" y="4050655"/>
            <a:ext cx="63226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revenue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1305669" y="3810744"/>
            <a:ext cx="6703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8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05669" y="4050655"/>
            <a:ext cx="6703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153394" y="3810744"/>
            <a:ext cx="44736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289%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153394" y="4050655"/>
            <a:ext cx="4473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096000" y="1668959"/>
            <a:ext cx="2667000" cy="1205657"/>
          </a:xfrm>
          <a:prstGeom prst="roundRect">
            <a:avLst>
              <a:gd name="adj" fmla="val 6320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05347" y="1802309"/>
            <a:ext cx="24483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👩‍🎓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05347" y="2107109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Aujo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05347" y="2305199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MPH - Uganda Martyrs University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6205347" y="2444204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BSWASA - Kyambogo University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6205347" y="2621310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Pallisa District, Eastern Uganda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096000" y="2969865"/>
            <a:ext cx="2667000" cy="455116"/>
          </a:xfrm>
          <a:prstGeom prst="roundRect">
            <a:avLst>
              <a:gd name="adj" fmla="val 1674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66485" y="3065115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PRODUCER IN BUKEDI SUB-REGION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6166485" y="3223171"/>
            <a:ext cx="25260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competitors within 300km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096000" y="3520232"/>
            <a:ext cx="2667000" cy="601861"/>
          </a:xfrm>
          <a:prstGeom prst="roundRect">
            <a:avLst>
              <a:gd name="adj" fmla="val 126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191250" y="3615482"/>
            <a:ext cx="25260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191250" y="3767882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kevinaujo@gmail.com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6191250" y="3906887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+256 788 798 353</a:t>
            </a:r>
            <a:endParaRPr lang="en-US" sz="6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6013" y="411063"/>
            <a:ext cx="4371826" cy="776734"/>
          </a:xfrm>
          <a:prstGeom prst="roundRect">
            <a:avLst>
              <a:gd name="adj" fmla="val 981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33759" y="544413"/>
            <a:ext cx="38763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633759" y="715863"/>
            <a:ext cx="3876333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 WE4A Seed Capital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71373" y="1473547"/>
            <a:ext cx="32011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this investment, in Year 1 Rebloom Collective will deliver: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97659" y="1953518"/>
            <a:ext cx="667048" cy="571351"/>
          </a:xfrm>
          <a:prstGeom prst="roundRect">
            <a:avLst>
              <a:gd name="adj" fmla="val 1000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68712" y="2029718"/>
            <a:ext cx="52494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768712" y="2342108"/>
            <a:ext cx="52494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GBV survivors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3440906" y="1953518"/>
            <a:ext cx="667048" cy="571351"/>
          </a:xfrm>
          <a:prstGeom prst="roundRect">
            <a:avLst>
              <a:gd name="adj" fmla="val 1000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11960" y="2029718"/>
            <a:ext cx="52494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511960" y="2342108"/>
            <a:ext cx="52494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created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184154" y="1900238"/>
            <a:ext cx="667048" cy="677912"/>
          </a:xfrm>
          <a:prstGeom prst="roundRect">
            <a:avLst>
              <a:gd name="adj" fmla="val 856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55207" y="1976438"/>
            <a:ext cx="52494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255207" y="2288828"/>
            <a:ext cx="52494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 entrepreneurs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927402" y="1953518"/>
            <a:ext cx="667048" cy="571351"/>
          </a:xfrm>
          <a:prstGeom prst="roundRect">
            <a:avLst>
              <a:gd name="adj" fmla="val 1000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98455" y="2029718"/>
            <a:ext cx="52494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750+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998455" y="2342108"/>
            <a:ext cx="52494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Girls in school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670649" y="1953518"/>
            <a:ext cx="775841" cy="571351"/>
          </a:xfrm>
          <a:prstGeom prst="roundRect">
            <a:avLst>
              <a:gd name="adj" fmla="val 1000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40615" y="2029718"/>
            <a:ext cx="63591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150K+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740615" y="2342108"/>
            <a:ext cx="63591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prevented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918371" y="2844850"/>
            <a:ext cx="3307259" cy="272355"/>
          </a:xfrm>
          <a:prstGeom prst="roundRect">
            <a:avLst>
              <a:gd name="adj" fmla="val 20984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040746" y="2921050"/>
            <a:ext cx="30625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LOCAL PRODUCER of reusable menstrual pads in Teso sub-region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2977445" y="3383905"/>
            <a:ext cx="31889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REBLOOM COLLECTIVE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2884085" y="3841105"/>
            <a:ext cx="33756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Survivors Heal, Women Thrive, and Communities Flourish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44407" y="4267795"/>
            <a:ext cx="6550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Aujo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3412364" y="4612481"/>
            <a:ext cx="23192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kevinaujo@gmail.com | +256 788 798 353 | Pallisa, Uganda</a:t>
            </a:r>
            <a:endParaRPr lang="en-US" sz="6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3816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800100"/>
            <a:ext cx="8382000" cy="681633"/>
          </a:xfrm>
          <a:prstGeom prst="roundRect">
            <a:avLst>
              <a:gd name="adj" fmla="val 838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800100"/>
            <a:ext cx="0" cy="681633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895350"/>
            <a:ext cx="83164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Poverty and School Absenteeism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514350" y="1028700"/>
            <a:ext cx="83164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Chaturvedi, S., et al. (2020). "Menstrual Health and School Absenteeism among Adolescent Girls in Uganda (MENISCUS)". </a:t>
            </a:r>
            <a:pPr algn="l" indent="0" marL="0">
              <a:lnSpc>
                <a:spcPts val="840"/>
              </a:lnSpc>
              <a:buNone/>
            </a:pPr>
            <a:r>
              <a:rPr lang="en-US" sz="600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</a:t>
            </a:r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5(1), 52-60.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14350" y="1154311"/>
            <a:ext cx="83164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UNICEF Uganda; Ministry of Education and Sports. School dropout statistics.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514350" y="1279922"/>
            <a:ext cx="83164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SNV Netherlands Development Organisation. (2017). Girls in Control baseline report.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381000" y="1557933"/>
            <a:ext cx="8382000" cy="681633"/>
          </a:xfrm>
          <a:prstGeom prst="roundRect">
            <a:avLst>
              <a:gd name="adj" fmla="val 838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1557933"/>
            <a:ext cx="0" cy="681633"/>
          </a:xfrm>
          <a:prstGeom prst="line">
            <a:avLst/>
          </a:prstGeom>
          <a:noFill/>
          <a:ln w="381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350" y="1653183"/>
            <a:ext cx="83164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Gender-Based Violence Statistics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514350" y="1786533"/>
            <a:ext cx="83164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 Bureau of Statistics. (2021). </a:t>
            </a:r>
            <a:pPr algn="l" indent="0" marL="0">
              <a:lnSpc>
                <a:spcPts val="840"/>
              </a:lnSpc>
              <a:buNone/>
            </a:pPr>
            <a:r>
              <a:rPr lang="en-US" sz="600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 Violence Against Women and Girls Survey 2020</a:t>
            </a:r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14350" y="1912144"/>
            <a:ext cx="83164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UNFPA Uganda. (2021). Gender Based Violence Factsheet - Teso sub-region data.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14350" y="2037755"/>
            <a:ext cx="83164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Bank. (2020). </a:t>
            </a:r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Women, Business and the Law 2020</a:t>
            </a:r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Washington, DC. (Chapter on Safety).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81000" y="2315766"/>
            <a:ext cx="8382000" cy="430411"/>
          </a:xfrm>
          <a:prstGeom prst="roundRect">
            <a:avLst>
              <a:gd name="adj" fmla="val 132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2315766"/>
            <a:ext cx="0" cy="430411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350" y="2411016"/>
            <a:ext cx="83164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Impact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514350" y="2544366"/>
            <a:ext cx="83164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Rheinländer, T., et al. (2020). "Menstrual hygiene management and waste disposal in low and middle income countries". </a:t>
            </a:r>
            <a:pPr algn="l" indent="0" marL="0">
              <a:lnSpc>
                <a:spcPts val="840"/>
              </a:lnSpc>
              <a:buNone/>
            </a:pPr>
            <a:r>
              <a:rPr lang="en-US" sz="600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of the Total Environment</a:t>
            </a:r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718, 137238.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81000" y="2822377"/>
            <a:ext cx="8382000" cy="681633"/>
          </a:xfrm>
          <a:prstGeom prst="roundRect">
            <a:avLst>
              <a:gd name="adj" fmla="val 838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0050" y="2822377"/>
            <a:ext cx="0" cy="681633"/>
          </a:xfrm>
          <a:prstGeom prst="line">
            <a:avLst/>
          </a:prstGeom>
          <a:noFill/>
          <a:ln w="381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" y="2917627"/>
            <a:ext cx="83164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Poverty and Economic Data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514350" y="3050977"/>
            <a:ext cx="83164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 Bureau of Statistics. (2019). </a:t>
            </a:r>
            <a:pPr algn="l" indent="0" marL="0">
              <a:lnSpc>
                <a:spcPts val="840"/>
              </a:lnSpc>
              <a:buNone/>
            </a:pPr>
            <a:r>
              <a:rPr lang="en-US" sz="600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Pallisa District Statistical Abstract 2018/19</a:t>
            </a:r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14350" y="3176588"/>
            <a:ext cx="83164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Bank. (2019). </a:t>
            </a:r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Poverty Maps of Uganda</a:t>
            </a:r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14350" y="3302198"/>
            <a:ext cx="83164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 Bureau of Statistics. (2020). </a:t>
            </a:r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 National Household Survey 2019/2020</a:t>
            </a:r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81000" y="3580209"/>
            <a:ext cx="8382000" cy="681633"/>
          </a:xfrm>
          <a:prstGeom prst="roundRect">
            <a:avLst>
              <a:gd name="adj" fmla="val 838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00050" y="3580209"/>
            <a:ext cx="0" cy="681633"/>
          </a:xfrm>
          <a:prstGeom prst="line">
            <a:avLst/>
          </a:prstGeom>
          <a:noFill/>
          <a:ln w="38100">
            <a:solidFill>
              <a:srgbClr val="7B1F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350" y="3675459"/>
            <a:ext cx="83164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514350" y="3808809"/>
            <a:ext cx="83164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AFRIpads official documentation. Masaka factory location confirmed.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14350" y="3934420"/>
            <a:ext cx="83164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CEHURD/AllAfrica. (June 2024). Parliamentary advocacy report on Teso region menstrual health.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14350" y="4060031"/>
            <a:ext cx="83164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NETWAS Uganda. (2014). Baseline study, Kibuku and Pallisa Districts.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81000" y="4497884"/>
            <a:ext cx="8382000" cy="455116"/>
          </a:xfrm>
          <a:prstGeom prst="roundRect">
            <a:avLst>
              <a:gd name="adj" fmla="val 1255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94335" y="4593134"/>
            <a:ext cx="83553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Rebloom Collective - Evidence-Based Social Enterprise for Women's Empowerment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394335" y="4751189"/>
            <a:ext cx="83553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Kevin Aujo | kevinaujo@gmail.com | +256 788 798 353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Rebloom Collective - WE4A Pitch Deck</dc:title>
  <dc:subject>WE4A Business Pitch - GBV Survivor Green Livelihood and CHE Network</dc:subject>
  <dc:creator>Kevin Aujo</dc:creator>
  <cp:lastModifiedBy>Kevin Aujo</cp:lastModifiedBy>
  <cp:revision>1</cp:revision>
  <dcterms:created xsi:type="dcterms:W3CDTF">2026-01-23T10:54:32Z</dcterms:created>
  <dcterms:modified xsi:type="dcterms:W3CDTF">2026-01-23T10:54:32Z</dcterms:modified>
</cp:coreProperties>
</file>